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SESから理解する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DMARC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E0E0"/>
                </a:solidFill>
              </a:rPr>
              <a:t>Domain-based Message Authentication,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0E0E0"/>
                </a:solidFill>
              </a:rPr>
              <a:t>Reporting, and Conformance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DMARC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0E0"/>
                </a:solidFill>
              </a:rPr>
              <a:t>Domain-based Message Authentication, Reporting, and Conformance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</a:rPr>
              <a:t>SPF + DKIM 検証を統合した認証フレームワーク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DMARCの3つの機能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認証統合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SPFとDKIMの検証結果を組み合わせる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ポリシー指定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認証失敗時の処理を指定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・none: 何もしない（監視のみ）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・quarantine: 隔離（スパムフォルダ）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・reject: 拒否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 レポート送信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認証結果を定期的にレポート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2926080" cy="36576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</a:rPr>
              <a:t>DMARC判定フロー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2194560"/>
            <a:ext cx="109728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SPF検証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109728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DKIM検証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743200"/>
            <a:ext cx="457200" cy="45720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3383280"/>
            <a:ext cx="1645920" cy="548640"/>
          </a:xfrm>
          <a:prstGeom prst="rect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566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DMARC判定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4023360"/>
            <a:ext cx="365760" cy="3657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4480560"/>
            <a:ext cx="1645920" cy="548640"/>
          </a:xfrm>
          <a:prstGeom prst="rect">
            <a:avLst/>
          </a:prstGeom>
          <a:solidFill>
            <a:srgbClr val="51CF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ポリシー実行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SESのDMARC設定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</a:rPr>
              <a:t>Route 53でのDNS TXTレコード設定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設定手順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ドメイン認証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SESでドメインを認証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SPFレコード追加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送信元IPアドレスの許可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 DKIMレコード追加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電子署名の公開鍵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 DMARCレコード追加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   ポリシーとレポート先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291840" cy="3657600"/>
          </a:xfrm>
          <a:prstGeom prst="rect">
            <a:avLst/>
          </a:prstGeom>
          <a:solidFill>
            <a:srgbClr val="2A2A2A"/>
          </a:solidFill>
          <a:ln w="25400">
            <a:solidFill>
              <a:srgbClr val="51CF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CF66"/>
                </a:solidFill>
              </a:rPr>
              <a:t>Route 53 DNS設定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2011680"/>
            <a:ext cx="14630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2148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example.com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560320"/>
            <a:ext cx="365760" cy="3657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3108960"/>
            <a:ext cx="2560320" cy="411480"/>
          </a:xfrm>
          <a:prstGeom prst="rect">
            <a:avLst/>
          </a:prstGeom>
          <a:solidFill>
            <a:srgbClr val="3F3F3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546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43B"/>
                </a:solidFill>
              </a:rPr>
              <a:t>SPF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31012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v=spf1 include:amazonses.com ~all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2560320" cy="411480"/>
          </a:xfrm>
          <a:prstGeom prst="rect">
            <a:avLst/>
          </a:prstGeom>
          <a:solidFill>
            <a:srgbClr val="3F3F3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79476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43B"/>
                </a:solidFill>
              </a:rPr>
              <a:t>DKIM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95020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v=DKIM1; p=MIGfMA0G...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4389120"/>
            <a:ext cx="2560320" cy="411480"/>
          </a:xfrm>
          <a:prstGeom prst="rect">
            <a:avLst/>
          </a:prstGeom>
          <a:solidFill>
            <a:srgbClr val="3F3F3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43484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43B"/>
                </a:solidFill>
              </a:rPr>
              <a:t>DMARC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459028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v=DMARC1; p=quarantine; rua=...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676656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20640"/>
            <a:ext cx="6583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43B"/>
                </a:solidFill>
              </a:rPr>
              <a:t>DMARC レコード例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6583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_dmarc.example.com  →  v=DMARC1; p=quarantine; rua=mailto:dmarc@example.com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AWS SES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Email Authentication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</a:rPr>
              <a:t>SPF &amp; DKIM 処理フロー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DMARCアライメント判定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</a:rPr>
              <a:t>SPFとDKIMの検証に加え、ドメインの一致を確認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</a:rPr>
              <a:t>SPFアライメント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検証内容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Envelope From のドメインと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Header From のドメインが一致するか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判定モード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・Relaxed: 組織ドメインが一致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・Strict: 完全一致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1CF66"/>
                </a:solidFill>
              </a:rPr>
              <a:t>DKIMアライメント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657600" cy="1371600"/>
          </a:xfrm>
          <a:prstGeom prst="rect">
            <a:avLst/>
          </a:prstGeom>
          <a:solidFill>
            <a:srgbClr val="2A2A2A"/>
          </a:solidFill>
          <a:ln w="25400">
            <a:solidFill>
              <a:srgbClr val="51CF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検証内容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DKIM署名の d= 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Header From が一致するか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判定モード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・Relaxed: 組織ドメインが一致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・Strict: 完全一致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1554480"/>
          </a:xfrm>
          <a:prstGeom prst="rect">
            <a:avLst/>
          </a:prstGeom>
          <a:solidFill>
            <a:srgbClr val="2A2A2A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43B"/>
                </a:solidFill>
              </a:rPr>
              <a:t>DMARC PASS 条件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以下のいずれかが満たされればPASS: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① SPF検証がPASS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かつ </a:t>
            </a:r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SPFアライメント一致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1CF66"/>
                </a:solidFill>
              </a:rPr>
              <a:t>② DKIM検証がPASS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かつ </a:t>
            </a:r>
            <a:pPr indent="0" marL="0">
              <a:buNone/>
            </a:pPr>
            <a:r>
              <a:rPr lang="en-US" sz="1200" b="1" dirty="0">
                <a:solidFill>
                  <a:srgbClr val="51CF66"/>
                </a:solidFill>
              </a:rPr>
              <a:t>DKIMアライメント一致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</a:rPr>
              <a:t>両方満たす必要なし、どちらか一方でOK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Envelope From と Header From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</a:rPr>
              <a:t>メールアドレスの2つの「From」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011680"/>
          </a:xfrm>
          <a:prstGeom prst="rect">
            <a:avLst/>
          </a:prstGeom>
          <a:solidFill>
            <a:srgbClr val="2A2A2A"/>
          </a:solidFill>
          <a:ln w="25400">
            <a:solidFill>
              <a:srgbClr val="42A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FFA"/>
                </a:solidFill>
              </a:rPr>
              <a:t>Envelope From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</a:rPr>
              <a:t>RFC5321.MailFrom / Return-Path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役割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SMTP送信元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バウンス返送先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確認方法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Return-Path ヘッダー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SPFで検証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SPFアライメント対象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657600" cy="2011680"/>
          </a:xfrm>
          <a:prstGeom prst="rect">
            <a:avLst/>
          </a:prstGeom>
          <a:solidFill>
            <a:srgbClr val="2A2A2A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</a:rPr>
              <a:t>Header From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</a:rPr>
              <a:t>RFC5322.From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役割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From ヘッダー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ユーザー表示送信者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確認方法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メールクライアント表示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43B"/>
                </a:solidFill>
              </a:rPr>
              <a:t>DMARCアライメント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Envelope/Header Fromの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ドメイン一致確認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7680960" cy="1463040"/>
          </a:xfrm>
          <a:prstGeom prst="rect">
            <a:avLst/>
          </a:prstGeom>
          <a:solidFill>
            <a:srgbClr val="2A2A2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86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具体例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AFFA"/>
                </a:solidFill>
              </a:rPr>
              <a:t>Envelope From: </a:t>
            </a:r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bounce@mail.example.com</a:t>
            </a:r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  ← SMTP送信、SPF検証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Header From: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info@example.com</a:t>
            </a:r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  ← ユーザーが見る送信者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43B"/>
                </a:solidFill>
              </a:rPr>
              <a:t>DMARCアライメント判定: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Relaxedモードなら </a:t>
            </a:r>
            <a:pPr indent="0" marL="0">
              <a:buNone/>
            </a:pPr>
            <a:r>
              <a:rPr lang="en-US" sz="1100" dirty="0">
                <a:solidFill>
                  <a:srgbClr val="51CF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example.com</a:t>
            </a:r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 が一致 → PASS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SPF (Sender Policy Framework)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</a:rPr>
              <a:t>送信元IPアドレスの検証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371600" cy="914400"/>
          </a:xfrm>
          <a:prstGeom prst="rect">
            <a:avLst/>
          </a:prstGeom>
          <a:solidFill>
            <a:srgbClr val="42AF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SES SDK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965960"/>
            <a:ext cx="91440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①メール送信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API呼び出し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1371600" cy="914400"/>
          </a:xfrm>
          <a:prstGeom prst="rect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メール送信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91440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②SMTP送信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645920"/>
            <a:ext cx="1645920" cy="914400"/>
          </a:xfrm>
          <a:prstGeom prst="rect">
            <a:avLst/>
          </a:prstGeom>
          <a:solidFill>
            <a:srgbClr val="9B59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受信メールサーバー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SPF検証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200400"/>
            <a:ext cx="1645920" cy="914400"/>
          </a:xfrm>
          <a:prstGeom prst="rect">
            <a:avLst/>
          </a:prstGeom>
          <a:solidFill>
            <a:srgbClr val="51CF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Route 53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DNS (SPFレコード)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651760"/>
            <a:ext cx="320040" cy="45720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③SPFレコード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問い合わせ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2651760"/>
            <a:ext cx="320040" cy="457200"/>
          </a:xfrm>
          <a:prstGeom prst="upArrow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④SPFレコード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返却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389120"/>
            <a:ext cx="67665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8056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SPF レコード例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v=spf1 include:amazonses.com ~all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676656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12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CF66"/>
                </a:solidFill>
              </a:rPr>
              <a:t>⑤ 検証結果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送信元IPアドレスがSPFレコードで許可されているかを確認 → OK: メール受信 / NG: 拒否またはスパム判定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DKIM (DomainKeys Identified Mail)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</a:rPr>
              <a:t>電子署名によるメール改ざん検知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371600" cy="914400"/>
          </a:xfrm>
          <a:prstGeom prst="rect">
            <a:avLst/>
          </a:prstGeom>
          <a:solidFill>
            <a:srgbClr val="42AF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SES SDK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965960"/>
            <a:ext cx="91440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①メール送信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API呼び出し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1371600" cy="914400"/>
          </a:xfrm>
          <a:prstGeom prst="rect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DKIM署名追加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メール送信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91440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②署名付き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メール送信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645920"/>
            <a:ext cx="1645920" cy="914400"/>
          </a:xfrm>
          <a:prstGeom prst="rect">
            <a:avLst/>
          </a:prstGeom>
          <a:solidFill>
            <a:srgbClr val="9B59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受信メールサーバー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DKIM検証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200400"/>
            <a:ext cx="1645920" cy="914400"/>
          </a:xfrm>
          <a:prstGeom prst="rect">
            <a:avLst/>
          </a:prstGeom>
          <a:solidFill>
            <a:srgbClr val="51CF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Route 53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DNS (DKIMレコード)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2651760"/>
            <a:ext cx="320040" cy="45720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③DKIM公開鍵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問い合わせ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2651760"/>
            <a:ext cx="320040" cy="457200"/>
          </a:xfrm>
          <a:prstGeom prst="upArrow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④公開鍵返却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67665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8056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DKIM レコード例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75488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selector._domainkey.example.com  →  v=DKIM1; p=MIGfMA0G...（公開鍵）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120640"/>
            <a:ext cx="676656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12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CF66"/>
                </a:solidFill>
              </a:rPr>
              <a:t>⑤ 検証結果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4406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公開鍵でメールヘッダーのDKIM署名を検証 → OK: 送信元ドメイン認証成功・改ざんなし / NG: 拒否またはスパム判定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SES &amp; Route53 Email Authentication with DMARC</dc:title>
  <dc:subject>PptxGenJS Presentation</dc:subject>
  <dc:creator>AWS SES Email Authentication</dc:creator>
  <cp:lastModifiedBy>AWS SES Email Authentication</cp:lastModifiedBy>
  <cp:revision>1</cp:revision>
  <dcterms:created xsi:type="dcterms:W3CDTF">2026-02-16T08:17:46Z</dcterms:created>
  <dcterms:modified xsi:type="dcterms:W3CDTF">2026-02-16T08:17:46Z</dcterms:modified>
</cp:coreProperties>
</file>